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3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53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0" Type="http://schemas.openxmlformats.org/officeDocument/2006/relationships/slideLayout" Target="../slideLayouts/slideLayout7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D4AF37"/>
                </a:solidFill>
              </a:defRPr>
            </a:pPr>
            <a:r>
              <a:t>赛博判官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468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E0E8F0"/>
                </a:solidFill>
              </a:defRPr>
            </a:pPr>
            <a:r>
              <a:t>AI纠纷调解Agent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0" y="3200400"/>
            <a:ext cx="4846320" cy="1828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AB0D9"/>
                </a:solidFill>
              </a:defRPr>
            </a:pPr>
            <a:r>
              <a:t>《自然语言处理综合应用实践》专周设计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A7A9A"/>
                </a:solidFill>
              </a:defRPr>
            </a:pPr>
            <a:r>
              <a:t>组员：XXX / XXX / XXX         指导老师：XXX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D4AF37"/>
                </a:solidFill>
              </a:defRPr>
            </a:pPr>
            <a:r>
              <a:t>解决什么问题？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D4AF37"/>
                </a:solidFill>
              </a:defRPr>
            </a:pPr>
            <a:r>
              <a:t>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54480" y="16916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0E8F0"/>
                </a:solidFill>
              </a:defRPr>
            </a:pPr>
            <a:r>
              <a:t>室友矛盾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2860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AB0D9"/>
                </a:solidFill>
              </a:defRPr>
            </a:pPr>
            <a:r>
              <a:t>空调温度、物品借用…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66160" y="16459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D4AF37"/>
                </a:solidFill>
              </a:defRPr>
            </a:pPr>
            <a:r>
              <a:t>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16916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0E8F0"/>
                </a:solidFill>
              </a:defRPr>
            </a:pPr>
            <a:r>
              <a:t>二手交易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860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AB0D9"/>
                </a:solidFill>
              </a:defRPr>
            </a:pPr>
            <a:r>
              <a:t>质量退款、隐瞒瑕疵…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6459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D4AF37"/>
                </a:solidFill>
              </a:defRPr>
            </a:pPr>
            <a:r>
              <a:t>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0" y="16916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0E8F0"/>
                </a:solidFill>
              </a:defRPr>
            </a:pPr>
            <a:r>
              <a:t>合作分歧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2860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AB0D9"/>
                </a:solidFill>
              </a:defRPr>
            </a:pPr>
            <a:r>
              <a:t>分工不均、贡献争议…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5440" y="16459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D4AF37"/>
                </a:solidFill>
              </a:defRPr>
            </a:pPr>
            <a:r>
              <a:t>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16916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0E8F0"/>
                </a:solidFill>
              </a:defRPr>
            </a:pPr>
            <a:r>
              <a:t>情感纠纷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0" y="22860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AB0D9"/>
                </a:solidFill>
              </a:defRPr>
            </a:pPr>
            <a:r>
              <a:t>借钱不还、分手清算…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371600" y="3657600"/>
            <a:ext cx="9418320" cy="1828800"/>
          </a:xfrm>
          <a:prstGeom prst="roundRect">
            <a:avLst/>
          </a:prstGeom>
          <a:solidFill>
            <a:srgbClr val="1A2A4A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45920" y="384048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4AF37"/>
                </a:solidFill>
              </a:defRPr>
            </a:pPr>
            <a:r>
              <a:t>❌ 打官司成本高：耗时、费钱、伤感情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438912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4AF37"/>
                </a:solidFill>
              </a:defRPr>
            </a:pPr>
            <a:r>
              <a:t>❌ 找调解没渠道：学校社区资源有限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493776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4AF37"/>
                </a:solidFill>
              </a:defRPr>
            </a:pPr>
            <a:r>
              <a:t>✅ 赛博判官：随时可用的低成本AI调解员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D4AF37"/>
                </a:solidFill>
              </a:defRPr>
            </a:pPr>
            <a:r>
              <a:t>系统架构</a:t>
            </a:r>
          </a:p>
        </p:txBody>
      </p:sp>
      <p:sp>
        <p:nvSpPr>
          <p:cNvPr id="3" name="Rounded Rectangle 2"/>
          <p:cNvSpPr/>
          <p:nvPr>
            <p:custDataLst>
              <p:tags r:id="rId1"/>
            </p:custDataLst>
          </p:nvPr>
        </p:nvSpPr>
        <p:spPr>
          <a:xfrm>
            <a:off x="731520" y="1371600"/>
            <a:ext cx="2560320" cy="2286000"/>
          </a:xfrm>
          <a:prstGeom prst="roundRect">
            <a:avLst/>
          </a:prstGeom>
          <a:solidFill>
            <a:srgbClr val="2A4060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E0E8F0"/>
                </a:solidFill>
              </a:defRPr>
            </a:pPr>
            <a:r>
              <a:t>数据层</a:t>
            </a:r>
          </a:p>
        </p:txBody>
      </p:sp>
      <p:sp>
        <p:nvSpPr>
          <p:cNvPr id="4" name="TextBox 3"/>
          <p:cNvSpPr txBox="1"/>
          <p:nvPr>
            <p:custDataLst>
              <p:tags r:id="rId2"/>
            </p:custDataLst>
          </p:nvPr>
        </p:nvSpPr>
        <p:spPr>
          <a:xfrm>
            <a:off x="914400" y="2743200"/>
            <a:ext cx="2087880" cy="4622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100" b="0">
                <a:solidFill>
                  <a:srgbClr val="7AB0D9"/>
                </a:solidFill>
              </a:defRPr>
            </a:pPr>
            <a:r>
              <a:t>149条纠纷案例</a:t>
            </a:r>
            <a:br/>
            <a:r>
              <a:t>Pandas清洗→分词</a:t>
            </a:r>
          </a:p>
        </p:txBody>
      </p:sp>
      <p:sp>
        <p:nvSpPr>
          <p:cNvPr id="5" name="TextBox 4"/>
          <p:cNvSpPr txBox="1"/>
          <p:nvPr>
            <p:custDataLst>
              <p:tags r:id="rId3"/>
            </p:custDataLst>
          </p:nvPr>
        </p:nvSpPr>
        <p:spPr>
          <a:xfrm>
            <a:off x="3291840" y="2011680"/>
            <a:ext cx="457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D4AF37"/>
                </a:solidFill>
              </a:defRPr>
            </a:pPr>
            <a:r>
              <a:t>→</a:t>
            </a:r>
          </a:p>
        </p:txBody>
      </p:sp>
      <p:sp>
        <p:nvSpPr>
          <p:cNvPr id="6" name="Rounded Rectangle 5"/>
          <p:cNvSpPr/>
          <p:nvPr>
            <p:custDataLst>
              <p:tags r:id="rId4"/>
            </p:custDataLst>
          </p:nvPr>
        </p:nvSpPr>
        <p:spPr>
          <a:xfrm>
            <a:off x="3657600" y="1371600"/>
            <a:ext cx="2560320" cy="2286000"/>
          </a:xfrm>
          <a:prstGeom prst="roundRect">
            <a:avLst/>
          </a:prstGeom>
          <a:solidFill>
            <a:srgbClr val="2A4060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E0E8F0"/>
                </a:solidFill>
              </a:defRPr>
            </a:pPr>
            <a:r>
              <a:t>工具层</a:t>
            </a:r>
          </a:p>
        </p:txBody>
      </p:sp>
      <p:sp>
        <p:nvSpPr>
          <p:cNvPr id="7" name="TextBox 6"/>
          <p:cNvSpPr txBox="1"/>
          <p:nvPr>
            <p:custDataLst>
              <p:tags r:id="rId5"/>
            </p:custDataLst>
          </p:nvPr>
        </p:nvSpPr>
        <p:spPr>
          <a:xfrm>
            <a:off x="3840480" y="2743200"/>
            <a:ext cx="2194560" cy="6858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100" b="0">
                <a:solidFill>
                  <a:srgbClr val="7AB0D9"/>
                </a:solidFill>
              </a:defRPr>
            </a:pPr>
            <a:r>
              <a:t>情感分析→关键词→</a:t>
            </a:r>
            <a:br/>
            <a:r>
              <a:t>相似检索→综合推理</a:t>
            </a:r>
          </a:p>
        </p:txBody>
      </p:sp>
      <p:sp>
        <p:nvSpPr>
          <p:cNvPr id="8" name="TextBox 7"/>
          <p:cNvSpPr txBox="1"/>
          <p:nvPr>
            <p:custDataLst>
              <p:tags r:id="rId6"/>
            </p:custDataLst>
          </p:nvPr>
        </p:nvSpPr>
        <p:spPr>
          <a:xfrm>
            <a:off x="6217920" y="2011680"/>
            <a:ext cx="457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D4AF37"/>
                </a:solidFill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>
            <p:custDataLst>
              <p:tags r:id="rId7"/>
            </p:custDataLst>
          </p:nvPr>
        </p:nvSpPr>
        <p:spPr>
          <a:xfrm>
            <a:off x="6583680" y="1371600"/>
            <a:ext cx="2560320" cy="2286000"/>
          </a:xfrm>
          <a:prstGeom prst="roundRect">
            <a:avLst/>
          </a:prstGeom>
          <a:solidFill>
            <a:srgbClr val="2A4060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E0E8F0"/>
                </a:solidFill>
              </a:defRPr>
            </a:pPr>
            <a:r>
              <a:t>推理层</a:t>
            </a:r>
          </a:p>
        </p:txBody>
      </p:sp>
      <p:sp>
        <p:nvSpPr>
          <p:cNvPr id="10" name="TextBox 9"/>
          <p:cNvSpPr txBox="1"/>
          <p:nvPr>
            <p:custDataLst>
              <p:tags r:id="rId8"/>
            </p:custDataLst>
          </p:nvPr>
        </p:nvSpPr>
        <p:spPr>
          <a:xfrm>
            <a:off x="6766560" y="2743200"/>
            <a:ext cx="2194560" cy="67500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100" b="0">
                <a:solidFill>
                  <a:srgbClr val="7AB0D9"/>
                </a:solidFill>
              </a:defRPr>
            </a:pPr>
            <a:r>
              <a:t>多工具聚合→DeepSeek</a:t>
            </a:r>
            <a:br/>
            <a:r>
              <a:t>→结构化JSON判决书</a:t>
            </a:r>
          </a:p>
        </p:txBody>
      </p:sp>
      <p:sp>
        <p:nvSpPr>
          <p:cNvPr id="11" name="TextBox 10"/>
          <p:cNvSpPr txBox="1"/>
          <p:nvPr>
            <p:custDataLst>
              <p:tags r:id="rId9"/>
            </p:custDataLst>
          </p:nvPr>
        </p:nvSpPr>
        <p:spPr>
          <a:xfrm>
            <a:off x="9144000" y="2011680"/>
            <a:ext cx="457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D4AF37"/>
                </a:solidFill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509760" y="1371600"/>
            <a:ext cx="2560320" cy="2286000"/>
          </a:xfrm>
          <a:prstGeom prst="roundRect">
            <a:avLst/>
          </a:prstGeom>
          <a:solidFill>
            <a:srgbClr val="2A4060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E0E8F0"/>
                </a:solidFill>
              </a:defRPr>
            </a:pPr>
            <a:r>
              <a:t>展示层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92640" y="2743200"/>
            <a:ext cx="2194560" cy="4622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100" b="0">
                <a:solidFill>
                  <a:srgbClr val="7AB0D9"/>
                </a:solidFill>
              </a:defRPr>
            </a:pPr>
            <a:r>
              <a:t>PyQt5界面→HTML</a:t>
            </a:r>
            <a:br/>
            <a:r>
              <a:t>→雷达图→Markdown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1148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0E8F0"/>
                </a:solidFill>
              </a:defRPr>
            </a:pPr>
            <a:r>
              <a:t>用户输入双方陈述 → 4个工具并行分析 → LLM综合推理 → 结构化判决书 + 雷达图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53035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D4AF37"/>
                </a:solidFill>
              </a:defRPr>
            </a:pPr>
            <a:r>
              <a:t>27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7AB0D9"/>
                </a:solidFill>
              </a:defRPr>
            </a:pPr>
            <a:r>
              <a:t>Python文件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53035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D4AF37"/>
                </a:solidFill>
              </a:defRPr>
            </a:pPr>
            <a:r>
              <a:t>2784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57607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7AB0D9"/>
                </a:solidFill>
              </a:defRPr>
            </a:pPr>
            <a:r>
              <a:t>代码行数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53035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D4AF37"/>
                </a:solidFill>
              </a:defRPr>
            </a:pPr>
            <a:r>
              <a:t>149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57607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7AB0D9"/>
                </a:solidFill>
              </a:defRPr>
            </a:pPr>
            <a:r>
              <a:t>纠纷案例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0" y="53035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D4AF37"/>
                </a:solidFill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0" y="57607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7AB0D9"/>
                </a:solidFill>
              </a:defRPr>
            </a:pPr>
            <a:r>
              <a:t>Agent工具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D4AF37"/>
                </a:solidFill>
              </a:defRPr>
            </a:pPr>
            <a:r>
              <a:t>技术栈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463040"/>
            <a:ext cx="2286000" cy="1463040"/>
          </a:xfrm>
          <a:prstGeom prst="roundRect">
            <a:avLst/>
          </a:prstGeom>
          <a:solidFill>
            <a:srgbClr val="152545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E0E8F0"/>
                </a:solidFill>
              </a:defRPr>
            </a:pPr>
            <a:r>
              <a:t>🐍 Python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AB0D9"/>
                </a:solidFill>
              </a:defRPr>
            </a:pPr>
            <a:r>
              <a:t>主语言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0" y="1463040"/>
            <a:ext cx="2286000" cy="1463040"/>
          </a:xfrm>
          <a:prstGeom prst="roundRect">
            <a:avLst/>
          </a:prstGeom>
          <a:solidFill>
            <a:srgbClr val="152545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E0E8F0"/>
                </a:solidFill>
              </a:defRPr>
            </a:pPr>
            <a:r>
              <a:t>🪟 PyQt5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22860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AB0D9"/>
                </a:solidFill>
              </a:defRPr>
            </a:pPr>
            <a:r>
              <a:t>桌面GUI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463040"/>
            <a:ext cx="2286000" cy="1463040"/>
          </a:xfrm>
          <a:prstGeom prst="roundRect">
            <a:avLst/>
          </a:prstGeom>
          <a:solidFill>
            <a:srgbClr val="152545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E0E8F0"/>
                </a:solidFill>
              </a:defRPr>
            </a:pPr>
            <a:r>
              <a:t>🤖 DeepSeek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2860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AB0D9"/>
                </a:solidFill>
              </a:defRPr>
            </a:pPr>
            <a:r>
              <a:t>LLM推理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0" y="1463040"/>
            <a:ext cx="2286000" cy="1463040"/>
          </a:xfrm>
          <a:prstGeom prst="roundRect">
            <a:avLst/>
          </a:prstGeom>
          <a:solidFill>
            <a:srgbClr val="152545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E0E8F0"/>
                </a:solidFill>
              </a:defRPr>
            </a:pPr>
            <a:r>
              <a:t>📊 matplotlib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0" y="22860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AB0D9"/>
                </a:solidFill>
              </a:defRPr>
            </a:pPr>
            <a:r>
              <a:t>雷达图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474720"/>
            <a:ext cx="2286000" cy="1463040"/>
          </a:xfrm>
          <a:prstGeom prst="roundRect">
            <a:avLst/>
          </a:prstGeom>
          <a:solidFill>
            <a:srgbClr val="152545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E0E8F0"/>
                </a:solidFill>
              </a:defRPr>
            </a:pPr>
            <a:r>
              <a:t>🧮 sklearn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2976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AB0D9"/>
                </a:solidFill>
              </a:defRPr>
            </a:pPr>
            <a:r>
              <a:t>TF-IDF检索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0" y="3474720"/>
            <a:ext cx="2286000" cy="1463040"/>
          </a:xfrm>
          <a:prstGeom prst="roundRect">
            <a:avLst/>
          </a:prstGeom>
          <a:solidFill>
            <a:srgbClr val="152545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E0E8F0"/>
                </a:solidFill>
              </a:defRPr>
            </a:pPr>
            <a:r>
              <a:t>📝 jieba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42976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AB0D9"/>
                </a:solidFill>
              </a:defRPr>
            </a:pPr>
            <a:r>
              <a:t>中文分词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3474720"/>
            <a:ext cx="2286000" cy="1463040"/>
          </a:xfrm>
          <a:prstGeom prst="roundRect">
            <a:avLst/>
          </a:prstGeom>
          <a:solidFill>
            <a:srgbClr val="152545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E0E8F0"/>
                </a:solidFill>
              </a:defRPr>
            </a:pPr>
            <a:r>
              <a:t>📦 pandas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42976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AB0D9"/>
                </a:solidFill>
              </a:defRPr>
            </a:pPr>
            <a:r>
              <a:t>数据处理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0" y="3474720"/>
            <a:ext cx="2286000" cy="1463040"/>
          </a:xfrm>
          <a:prstGeom prst="roundRect">
            <a:avLst/>
          </a:prstGeom>
          <a:solidFill>
            <a:srgbClr val="152545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E0E8F0"/>
                </a:solidFill>
              </a:defRPr>
            </a:pPr>
            <a:r>
              <a:t>⚡ Ollama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42976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AB0D9"/>
                </a:solidFill>
              </a:defRPr>
            </a:pPr>
            <a:r>
              <a:t>本地备选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D4AF37"/>
                </a:solidFill>
              </a:defRPr>
            </a:pPr>
            <a:r>
              <a:t>界面展示（深蓝金科技主题）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097280"/>
            <a:ext cx="9418320" cy="4389120"/>
          </a:xfrm>
          <a:prstGeom prst="rect">
            <a:avLst/>
          </a:prstGeom>
          <a:solidFill>
            <a:srgbClr val="1A2A4A"/>
          </a:solidFill>
          <a:ln w="12700">
            <a:solidFill>
              <a:srgbClr val="5A7A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5A7A9A"/>
                </a:solidFill>
              </a:defRPr>
            </a:pPr>
            <a:r>
              <a:t>[此处插入主界面全屏截图]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90980" y="11887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4AF37"/>
                </a:solidFill>
              </a:defRPr>
            </a:pPr>
            <a:r>
              <a:t>① 输入区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0" y="11887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4AF37"/>
                </a:solidFill>
              </a:defRPr>
            </a:pPr>
            <a:r>
              <a:t>② 裁决按钮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90980" y="3388995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4AF37"/>
                </a:solidFill>
              </a:defRPr>
            </a:pPr>
            <a:r>
              <a:t>③ 判决书展示区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7607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AB0D9"/>
                </a:solidFill>
              </a:defRPr>
            </a:pPr>
            <a:r>
              <a:t>四种主题：🌙暗夜霓虹  ✨极简白金  🚀深蓝金科技  🏛️墨绿金复古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D4AF37"/>
                </a:solidFill>
              </a:defRPr>
            </a:pPr>
            <a:r>
              <a:t>案例演示：室友空调纠纷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5029200" cy="2286000"/>
          </a:xfrm>
          <a:prstGeom prst="roundRect">
            <a:avLst/>
          </a:prstGeom>
          <a:solidFill>
            <a:srgbClr val="2A1A1A"/>
          </a:solidFill>
          <a:ln w="1905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6B6B"/>
                </a:solidFill>
              </a:defRPr>
            </a:pPr>
            <a:r>
              <a:t>👤 甲方（学弟）：空调电费太高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8F0"/>
                </a:solidFill>
              </a:defRPr>
            </a:pPr>
            <a:r>
              <a:t>合租空调全天开，电费平摊到我这一个月170。我提议按实际使用比例分摊，他们觉得我斤斤计较。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657600"/>
            <a:ext cx="5029200" cy="2286000"/>
          </a:xfrm>
          <a:prstGeom prst="roundRect">
            <a:avLst/>
          </a:prstGeom>
          <a:solidFill>
            <a:srgbClr val="1A1A2A"/>
          </a:solidFill>
          <a:ln w="19050">
            <a:solidFill>
              <a:srgbClr val="7AB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749039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AB0D9"/>
                </a:solidFill>
              </a:defRPr>
            </a:pPr>
            <a:r>
              <a:t>👤 乙方（学长）：合租就该平摊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20624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8F0"/>
                </a:solidFill>
              </a:defRPr>
            </a:pPr>
            <a:r>
              <a:t>约定好四人平摊，他打游戏到凌晨电脑功率也不小。公共费用没法精确到人，集体生活有集体生活的规则。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27432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D4AF37"/>
                </a:solidFill>
              </a:defRPr>
            </a:pPr>
            <a: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0" y="1097280"/>
            <a:ext cx="4572000" cy="4572000"/>
          </a:xfrm>
          <a:prstGeom prst="rect">
            <a:avLst/>
          </a:prstGeom>
          <a:solidFill>
            <a:srgbClr val="1A2A4A"/>
          </a:solidFill>
          <a:ln w="12700">
            <a:solidFill>
              <a:srgbClr val="5A7A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5A7A9A"/>
                </a:solidFill>
              </a:defRPr>
            </a:pPr>
            <a:r>
              <a:t>[此处插入判决书截图]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D4AF37"/>
                </a:solidFill>
              </a:defRPr>
            </a:pPr>
            <a:r>
              <a:t>亮点功能：逻辑漏洞审计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1097280"/>
            <a:ext cx="8503920" cy="4114800"/>
          </a:xfrm>
          <a:prstGeom prst="rect">
            <a:avLst/>
          </a:prstGeom>
          <a:solidFill>
            <a:srgbClr val="1A2A4A"/>
          </a:solidFill>
          <a:ln w="12700">
            <a:solidFill>
              <a:srgbClr val="5A7A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5A7A9A"/>
                </a:solidFill>
              </a:defRPr>
            </a:pPr>
            <a:r>
              <a:t>[此处插入判决书⇐逻辑漏洞审计⇐部分截图]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A7A9A"/>
                </a:solidFill>
              </a:defRPr>
            </a:pPr>
            <a:r>
              <a:t>LLM自动识别陈述中的逻辑谬误并标注严重程度（🔴严重 🟡中等 🟢轻微）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D4AF37"/>
                </a:solidFill>
              </a:defRPr>
            </a:pPr>
            <a:r>
              <a:t>亮点功能：多维雷达图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097280"/>
            <a:ext cx="6400800" cy="4572000"/>
          </a:xfrm>
          <a:prstGeom prst="rect">
            <a:avLst/>
          </a:prstGeom>
          <a:solidFill>
            <a:srgbClr val="1A2A4A"/>
          </a:solidFill>
          <a:ln w="12700">
            <a:solidFill>
              <a:srgbClr val="5A7A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5A7A9A"/>
                </a:solidFill>
              </a:defRPr>
            </a:pPr>
            <a:r>
              <a:t>[此处插入雷达图截图]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4AF37"/>
                </a:solidFill>
              </a:defRPr>
            </a:pPr>
            <a:r>
              <a:t>五维评分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20116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AB0D9"/>
                </a:solidFill>
              </a:defRPr>
            </a:pPr>
            <a:r>
              <a:t>• 逻辑性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2514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AB0D9"/>
                </a:solidFill>
              </a:defRPr>
            </a:pPr>
            <a:r>
              <a:t>• 情感合理性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30175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AB0D9"/>
                </a:solidFill>
              </a:defRPr>
            </a:pPr>
            <a:r>
              <a:t>• 证据充分度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35204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AB0D9"/>
                </a:solidFill>
              </a:defRPr>
            </a:pPr>
            <a:r>
              <a:t>• 表述清晰度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40233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AB0D9"/>
                </a:solidFill>
              </a:defRPr>
            </a:pPr>
            <a:r>
              <a:t>• 说服力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45720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A6BFF"/>
                </a:solidFill>
              </a:defRPr>
            </a:pPr>
            <a:r>
              <a:t>甲方：蓝色实线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48463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6B6B"/>
                </a:solidFill>
              </a:defRPr>
            </a:pPr>
            <a:r>
              <a:t>乙方：红色实线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52120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A7A9A"/>
                </a:solidFill>
              </a:defRPr>
            </a:pPr>
            <a:r>
              <a:t>悬停显示数值 | 权重滑块实时更新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D4AF37"/>
                </a:solidFill>
              </a:defRPr>
            </a:pPr>
            <a:r>
              <a:t>踩坑与填坑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10515600" cy="1188720"/>
          </a:xfrm>
          <a:prstGeom prst="roundRect">
            <a:avLst/>
          </a:prstGeom>
          <a:solidFill>
            <a:srgbClr val="152545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1430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6B6B"/>
                </a:solidFill>
              </a:defRPr>
            </a:pPr>
            <a:r>
              <a:t>❗逻辑谬误检测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A7A9A"/>
                </a:solidFill>
              </a:defRPr>
            </a:pPr>
            <a:r>
              <a:t>🕳 独立实现→准确率极低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15087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BB44"/>
                </a:solidFill>
              </a:defRPr>
            </a:pPr>
            <a:r>
              <a:t>✅ 改由LLM推理时顺带完成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19202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8D080"/>
                </a:solidFill>
              </a:defRPr>
            </a:pPr>
            <a:r>
              <a:t>📌 减少模块=减少Bug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468880"/>
            <a:ext cx="10515600" cy="1188720"/>
          </a:xfrm>
          <a:prstGeom prst="roundRect">
            <a:avLst/>
          </a:prstGeom>
          <a:solidFill>
            <a:srgbClr val="152545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5146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6B6B"/>
                </a:solidFill>
              </a:defRPr>
            </a:pPr>
            <a:r>
              <a:t>❗PyQt5异步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8803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A7A9A"/>
                </a:solidFill>
              </a:defRPr>
            </a:pPr>
            <a:r>
              <a:t>🕳 LLM阻塞UI→界面卡死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28803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BB44"/>
                </a:solidFill>
              </a:defRPr>
            </a:pPr>
            <a:r>
              <a:t>✅ QThread后台线程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32918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8D080"/>
                </a:solidFill>
              </a:defRPr>
            </a:pPr>
            <a:r>
              <a:t>📌 主线程不做耗时操作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840480"/>
            <a:ext cx="10515600" cy="1188720"/>
          </a:xfrm>
          <a:prstGeom prst="roundRect">
            <a:avLst/>
          </a:prstGeom>
          <a:solidFill>
            <a:srgbClr val="152545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8862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6B6B"/>
                </a:solidFill>
              </a:defRPr>
            </a:pPr>
            <a:r>
              <a:t>❗主题切换失效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2519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A7A9A"/>
                </a:solidFill>
              </a:defRPr>
            </a:pPr>
            <a:r>
              <a:t>🕳 findChild找不到控件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42519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BB44"/>
                </a:solidFill>
              </a:defRPr>
            </a:pPr>
            <a:r>
              <a:t>✅ 先addWidget再apply_theme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46634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8D080"/>
                </a:solidFill>
              </a:defRPr>
            </a:pPr>
            <a:r>
              <a:t>📌 控件不入树则findChild=None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212080"/>
            <a:ext cx="10515600" cy="1188720"/>
          </a:xfrm>
          <a:prstGeom prst="roundRect">
            <a:avLst/>
          </a:prstGeom>
          <a:solidFill>
            <a:srgbClr val="152545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257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6B6B"/>
                </a:solidFill>
              </a:defRPr>
            </a:pPr>
            <a:r>
              <a:t>❗styles.py污染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6235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A7A9A"/>
                </a:solidFill>
              </a:defRPr>
            </a:pPr>
            <a:r>
              <a:t>🕳 str.replace串数据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56235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4BB44"/>
                </a:solidFill>
              </a:defRPr>
            </a:pPr>
            <a:r>
              <a:t>✅ 废弃补丁直接重写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0" y="60350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8D080"/>
                </a:solidFill>
              </a:defRPr>
            </a:pPr>
            <a:r>
              <a:t>📌 数据坏了就重建，别修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D4AF37"/>
                </a:solidFill>
              </a:defRPr>
            </a:pPr>
            <a:r>
              <a:t>总结与展望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AF37"/>
                </a:solidFill>
              </a:defRPr>
            </a:pPr>
            <a:r>
              <a:t>已完成功能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737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AB0D9"/>
                </a:solidFill>
              </a:defRPr>
            </a:pPr>
            <a:r>
              <a:t>✅ 输入→清洗→工具分析→结构化判决书全流程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1945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AB0D9"/>
                </a:solidFill>
              </a:defRPr>
            </a:pPr>
            <a:r>
              <a:t>✅ HTML富文本 + 雷达图 + Markdown导出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651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AB0D9"/>
                </a:solidFill>
              </a:defRPr>
            </a:pPr>
            <a:r>
              <a:t>✅ 四主题切换 + 异步线程 + 权重滑块实时交互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1089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AB0D9"/>
                </a:solidFill>
              </a:defRPr>
            </a:pPr>
            <a:r>
              <a:t>✅ 149条知识库 + TF-IDF检索 + 逻辑漏洞审计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114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A7A9A"/>
                </a:solidFill>
              </a:defRPr>
            </a:pPr>
            <a:r>
              <a:t>未来可优化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6634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A7A9A"/>
                </a:solidFill>
              </a:defRPr>
            </a:pPr>
            <a:r>
              <a:t>☐ 历史记录面板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50292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A7A9A"/>
                </a:solidFill>
              </a:defRPr>
            </a:pPr>
            <a:r>
              <a:t>☐ PDF报告导出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7607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D4AF37"/>
                </a:solidFill>
              </a:defRPr>
            </a:pPr>
            <a:r>
              <a:t>赛博判官 — 让纠纷调解更高效、更客观、更有趣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D4AF37"/>
                </a:solidFill>
              </a:defRPr>
            </a:pPr>
            <a:r>
              <a:t>谢谢！Q&amp;A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0" y="2926080"/>
            <a:ext cx="3931920" cy="1828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E0E8F0"/>
                </a:solidFill>
              </a:defRPr>
            </a:pPr>
            <a:r>
              <a:t>赛博判官 — AI纠纷调解员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AB0D9"/>
                </a:solidFill>
              </a:defRPr>
            </a:pPr>
            <a:r>
              <a:t>XXX / XXX / XXX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A7A9A"/>
                </a:solidFill>
              </a:defRPr>
            </a:pPr>
            <a:r>
              <a:t>D:\pycharm\cyber_judge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16,&quot;left&quot;:57.6,&quot;top&quot;:108,&quot;width&quot;:698.4}"/>
</p:tagLst>
</file>

<file path=ppt/tags/tag2.xml><?xml version="1.0" encoding="utf-8"?>
<p:tagLst xmlns:p="http://schemas.openxmlformats.org/presentationml/2006/main">
  <p:tag name="KSO_WM_DIAGRAM_VIRTUALLY_FRAME" val="{&quot;height&quot;:216,&quot;left&quot;:57.6,&quot;top&quot;:108,&quot;width&quot;:698.4}"/>
</p:tagLst>
</file>

<file path=ppt/tags/tag3.xml><?xml version="1.0" encoding="utf-8"?>
<p:tagLst xmlns:p="http://schemas.openxmlformats.org/presentationml/2006/main">
  <p:tag name="KSO_WM_DIAGRAM_VIRTUALLY_FRAME" val="{&quot;height&quot;:216,&quot;left&quot;:57.6,&quot;top&quot;:108,&quot;width&quot;:698.4}"/>
</p:tagLst>
</file>

<file path=ppt/tags/tag4.xml><?xml version="1.0" encoding="utf-8"?>
<p:tagLst xmlns:p="http://schemas.openxmlformats.org/presentationml/2006/main">
  <p:tag name="KSO_WM_DIAGRAM_VIRTUALLY_FRAME" val="{&quot;height&quot;:216,&quot;left&quot;:57.6,&quot;top&quot;:108,&quot;width&quot;:698.4}"/>
</p:tagLst>
</file>

<file path=ppt/tags/tag5.xml><?xml version="1.0" encoding="utf-8"?>
<p:tagLst xmlns:p="http://schemas.openxmlformats.org/presentationml/2006/main">
  <p:tag name="KSO_WM_DIAGRAM_VIRTUALLY_FRAME" val="{&quot;height&quot;:216,&quot;left&quot;:57.6,&quot;top&quot;:108,&quot;width&quot;:698.4}"/>
</p:tagLst>
</file>

<file path=ppt/tags/tag6.xml><?xml version="1.0" encoding="utf-8"?>
<p:tagLst xmlns:p="http://schemas.openxmlformats.org/presentationml/2006/main">
  <p:tag name="KSO_WM_DIAGRAM_VIRTUALLY_FRAME" val="{&quot;height&quot;:216,&quot;left&quot;:57.6,&quot;top&quot;:108,&quot;width&quot;:698.4}"/>
</p:tagLst>
</file>

<file path=ppt/tags/tag7.xml><?xml version="1.0" encoding="utf-8"?>
<p:tagLst xmlns:p="http://schemas.openxmlformats.org/presentationml/2006/main">
  <p:tag name="KSO_WM_DIAGRAM_VIRTUALLY_FRAME" val="{&quot;height&quot;:216,&quot;left&quot;:57.6,&quot;top&quot;:108,&quot;width&quot;:698.4}"/>
</p:tagLst>
</file>

<file path=ppt/tags/tag8.xml><?xml version="1.0" encoding="utf-8"?>
<p:tagLst xmlns:p="http://schemas.openxmlformats.org/presentationml/2006/main">
  <p:tag name="KSO_WM_DIAGRAM_VIRTUALLY_FRAME" val="{&quot;height&quot;:216,&quot;left&quot;:57.6,&quot;top&quot;:108,&quot;width&quot;:698.4}"/>
</p:tagLst>
</file>

<file path=ppt/tags/tag9.xml><?xml version="1.0" encoding="utf-8"?>
<p:tagLst xmlns:p="http://schemas.openxmlformats.org/presentationml/2006/main">
  <p:tag name="KSO_WM_DIAGRAM_VIRTUALLY_FRAME" val="{&quot;height&quot;:216,&quot;left&quot;:57.6,&quot;top&quot;:108,&quot;width&quot;:698.4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1321</Words>
  <Application>WPS 演示</Application>
  <PresentationFormat>On-screen Show (4:3)</PresentationFormat>
  <Paragraphs>232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9" baseType="lpstr">
      <vt:lpstr>Arial</vt:lpstr>
      <vt:lpstr>宋体</vt:lpstr>
      <vt:lpstr>Wingdings</vt:lpstr>
      <vt:lpstr>Arial</vt:lpstr>
      <vt:lpstr>Calibri</vt:lpstr>
      <vt:lpstr>微软雅黑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游离.</cp:lastModifiedBy>
  <cp:revision>2</cp:revision>
  <dcterms:created xsi:type="dcterms:W3CDTF">2013-01-27T09:14:00Z</dcterms:created>
  <dcterms:modified xsi:type="dcterms:W3CDTF">2026-07-03T03:50:40Z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70FAC4CDC75E4B07B616A3161266971B_12</vt:lpwstr>
  </property>
  <property fmtid="{D5CDD505-2E9C-101B-9397-08002B2CF9AE}" pid="3" name="KSOProductBuildVer">
    <vt:lpwstr>2052-12.1.0.23125</vt:lpwstr>
  </property>
</Properties>
</file>